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39037" y="5788464"/>
            <a:ext cx="6626927" cy="106953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7464" y="4723548"/>
            <a:ext cx="1495415" cy="1371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5727" y="5197374"/>
            <a:ext cx="1221376" cy="714531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144" y="0"/>
            <a:ext cx="1495415" cy="1371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50" y="5599332"/>
            <a:ext cx="6626927" cy="106953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407" y="473826"/>
            <a:ext cx="1221376" cy="714531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2F2F2F">
              <a:alpha val="100000"/>
              <a:lumMod val="85000"/>
            </a:srgbClr>
          </a:solidFill>
          <a:ln>
            <a:headEnd type="none"/>
            <a:tailEnd type="none"/>
          </a:ln>
        </p:spPr>
      </p:sp>
      <p:grpSp>
        <p:nvGrpSpPr>
          <p:cNvPr id="4" name="Group 4"/>
          <p:cNvGrpSpPr/>
          <p:nvPr/>
        </p:nvGrpSpPr>
        <p:grpSpPr>
          <a:xfrm>
            <a:off x="698216" y="1610968"/>
            <a:ext cx="1449150" cy="180724"/>
            <a:chOff x="5392832" y="1016000"/>
            <a:chExt cx="1449150" cy="180724"/>
          </a:xfrm>
        </p:grpSpPr>
        <p:sp>
          <p:nvSpPr>
            <p:cNvPr id="5" name="AutoShape 5"/>
            <p:cNvSpPr/>
            <p:nvPr/>
          </p:nvSpPr>
          <p:spPr>
            <a:xfrm>
              <a:off x="5392832" y="1021378"/>
              <a:ext cx="142015" cy="169628"/>
            </a:xfrm>
            <a:custGeom>
              <a:avLst/>
              <a:gdLst/>
              <a:ahLst/>
              <a:cxnLst/>
              <a:rect l="l" t="t" r="r" b="b"/>
              <a:pathLst>
                <a:path w="94" h="110">
                  <a:moveTo>
                    <a:pt x="86" y="23"/>
                  </a:moveTo>
                  <a:cubicBezTo>
                    <a:pt x="69" y="0"/>
                    <a:pt x="8" y="2"/>
                    <a:pt x="2" y="39"/>
                  </a:cubicBezTo>
                  <a:cubicBezTo>
                    <a:pt x="21" y="48"/>
                    <a:pt x="0" y="91"/>
                    <a:pt x="17" y="107"/>
                  </a:cubicBezTo>
                  <a:cubicBezTo>
                    <a:pt x="19" y="108"/>
                    <a:pt x="22" y="107"/>
                    <a:pt x="25" y="107"/>
                  </a:cubicBezTo>
                  <a:cubicBezTo>
                    <a:pt x="26" y="107"/>
                    <a:pt x="26" y="107"/>
                    <a:pt x="26" y="107"/>
                  </a:cubicBezTo>
                  <a:cubicBezTo>
                    <a:pt x="29" y="106"/>
                    <a:pt x="30" y="107"/>
                    <a:pt x="31" y="107"/>
                  </a:cubicBezTo>
                  <a:cubicBezTo>
                    <a:pt x="40" y="110"/>
                    <a:pt x="49" y="109"/>
                    <a:pt x="57" y="109"/>
                  </a:cubicBezTo>
                  <a:cubicBezTo>
                    <a:pt x="66" y="107"/>
                    <a:pt x="75" y="107"/>
                    <a:pt x="81" y="99"/>
                  </a:cubicBezTo>
                  <a:cubicBezTo>
                    <a:pt x="94" y="81"/>
                    <a:pt x="80" y="48"/>
                    <a:pt x="86" y="23"/>
                  </a:cubicBezTo>
                  <a:close/>
                  <a:moveTo>
                    <a:pt x="28" y="77"/>
                  </a:moveTo>
                  <a:cubicBezTo>
                    <a:pt x="31" y="79"/>
                    <a:pt x="33" y="83"/>
                    <a:pt x="33" y="89"/>
                  </a:cubicBezTo>
                  <a:cubicBezTo>
                    <a:pt x="24" y="92"/>
                    <a:pt x="29" y="81"/>
                    <a:pt x="28" y="77"/>
                  </a:cubicBezTo>
                  <a:close/>
                  <a:moveTo>
                    <a:pt x="30" y="39"/>
                  </a:moveTo>
                  <a:cubicBezTo>
                    <a:pt x="24" y="37"/>
                    <a:pt x="29" y="26"/>
                    <a:pt x="35" y="28"/>
                  </a:cubicBezTo>
                  <a:cubicBezTo>
                    <a:pt x="37" y="35"/>
                    <a:pt x="30" y="34"/>
                    <a:pt x="30" y="39"/>
                  </a:cubicBezTo>
                  <a:close/>
                  <a:moveTo>
                    <a:pt x="63" y="39"/>
                  </a:moveTo>
                  <a:cubicBezTo>
                    <a:pt x="66" y="39"/>
                    <a:pt x="65" y="45"/>
                    <a:pt x="66" y="49"/>
                  </a:cubicBezTo>
                  <a:cubicBezTo>
                    <a:pt x="63" y="47"/>
                    <a:pt x="61" y="46"/>
                    <a:pt x="58" y="46"/>
                  </a:cubicBezTo>
                  <a:cubicBezTo>
                    <a:pt x="59" y="43"/>
                    <a:pt x="62" y="42"/>
                    <a:pt x="63" y="39"/>
                  </a:cubicBezTo>
                  <a:close/>
                  <a:moveTo>
                    <a:pt x="66" y="66"/>
                  </a:moveTo>
                  <a:cubicBezTo>
                    <a:pt x="69" y="67"/>
                    <a:pt x="68" y="73"/>
                    <a:pt x="68" y="77"/>
                  </a:cubicBezTo>
                  <a:cubicBezTo>
                    <a:pt x="62" y="76"/>
                    <a:pt x="62" y="70"/>
                    <a:pt x="66" y="66"/>
                  </a:cubicBezTo>
                  <a:close/>
                </a:path>
              </a:pathLst>
            </a:custGeom>
            <a:solidFill>
              <a:srgbClr val="EDB2D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5725270" y="1021378"/>
              <a:ext cx="141451" cy="169628"/>
            </a:xfrm>
            <a:custGeom>
              <a:avLst/>
              <a:gdLst/>
              <a:ahLst/>
              <a:cxnLst/>
              <a:rect l="l" t="t" r="r" b="b"/>
              <a:pathLst>
                <a:path w="94" h="110">
                  <a:moveTo>
                    <a:pt x="85" y="23"/>
                  </a:moveTo>
                  <a:cubicBezTo>
                    <a:pt x="68" y="0"/>
                    <a:pt x="7" y="2"/>
                    <a:pt x="1" y="39"/>
                  </a:cubicBezTo>
                  <a:cubicBezTo>
                    <a:pt x="20" y="48"/>
                    <a:pt x="0" y="91"/>
                    <a:pt x="17" y="107"/>
                  </a:cubicBezTo>
                  <a:cubicBezTo>
                    <a:pt x="19" y="108"/>
                    <a:pt x="22" y="107"/>
                    <a:pt x="24" y="107"/>
                  </a:cubicBezTo>
                  <a:cubicBezTo>
                    <a:pt x="25" y="107"/>
                    <a:pt x="25" y="107"/>
                    <a:pt x="26" y="107"/>
                  </a:cubicBezTo>
                  <a:cubicBezTo>
                    <a:pt x="28" y="106"/>
                    <a:pt x="30" y="107"/>
                    <a:pt x="31" y="107"/>
                  </a:cubicBezTo>
                  <a:cubicBezTo>
                    <a:pt x="39" y="110"/>
                    <a:pt x="48" y="109"/>
                    <a:pt x="57" y="109"/>
                  </a:cubicBezTo>
                  <a:cubicBezTo>
                    <a:pt x="66" y="107"/>
                    <a:pt x="74" y="107"/>
                    <a:pt x="80" y="99"/>
                  </a:cubicBezTo>
                  <a:cubicBezTo>
                    <a:pt x="94" y="81"/>
                    <a:pt x="79" y="48"/>
                    <a:pt x="85" y="23"/>
                  </a:cubicBezTo>
                  <a:close/>
                  <a:moveTo>
                    <a:pt x="27" y="77"/>
                  </a:moveTo>
                  <a:cubicBezTo>
                    <a:pt x="31" y="79"/>
                    <a:pt x="32" y="83"/>
                    <a:pt x="32" y="89"/>
                  </a:cubicBezTo>
                  <a:cubicBezTo>
                    <a:pt x="23" y="92"/>
                    <a:pt x="28" y="81"/>
                    <a:pt x="27" y="77"/>
                  </a:cubicBezTo>
                  <a:close/>
                  <a:moveTo>
                    <a:pt x="29" y="39"/>
                  </a:moveTo>
                  <a:cubicBezTo>
                    <a:pt x="23" y="37"/>
                    <a:pt x="28" y="26"/>
                    <a:pt x="34" y="28"/>
                  </a:cubicBezTo>
                  <a:cubicBezTo>
                    <a:pt x="36" y="35"/>
                    <a:pt x="29" y="34"/>
                    <a:pt x="29" y="39"/>
                  </a:cubicBezTo>
                  <a:close/>
                  <a:moveTo>
                    <a:pt x="62" y="39"/>
                  </a:moveTo>
                  <a:cubicBezTo>
                    <a:pt x="66" y="39"/>
                    <a:pt x="64" y="45"/>
                    <a:pt x="65" y="49"/>
                  </a:cubicBezTo>
                  <a:cubicBezTo>
                    <a:pt x="63" y="47"/>
                    <a:pt x="61" y="46"/>
                    <a:pt x="57" y="46"/>
                  </a:cubicBezTo>
                  <a:cubicBezTo>
                    <a:pt x="58" y="43"/>
                    <a:pt x="62" y="42"/>
                    <a:pt x="62" y="39"/>
                  </a:cubicBezTo>
                  <a:close/>
                  <a:moveTo>
                    <a:pt x="65" y="66"/>
                  </a:moveTo>
                  <a:cubicBezTo>
                    <a:pt x="68" y="67"/>
                    <a:pt x="67" y="73"/>
                    <a:pt x="67" y="77"/>
                  </a:cubicBezTo>
                  <a:cubicBezTo>
                    <a:pt x="61" y="76"/>
                    <a:pt x="62" y="70"/>
                    <a:pt x="65" y="66"/>
                  </a:cubicBezTo>
                  <a:close/>
                </a:path>
              </a:pathLst>
            </a:custGeom>
            <a:solidFill>
              <a:srgbClr val="F7F5B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054695" y="1028224"/>
              <a:ext cx="142015" cy="168500"/>
            </a:xfrm>
            <a:custGeom>
              <a:avLst/>
              <a:gdLst/>
              <a:ahLst/>
              <a:cxnLst/>
              <a:rect l="l" t="t" r="r" b="b"/>
              <a:pathLst>
                <a:path w="94" h="109">
                  <a:moveTo>
                    <a:pt x="85" y="23"/>
                  </a:moveTo>
                  <a:cubicBezTo>
                    <a:pt x="68" y="0"/>
                    <a:pt x="7" y="2"/>
                    <a:pt x="2" y="38"/>
                  </a:cubicBezTo>
                  <a:cubicBezTo>
                    <a:pt x="21" y="48"/>
                    <a:pt x="0" y="91"/>
                    <a:pt x="17" y="106"/>
                  </a:cubicBezTo>
                  <a:cubicBezTo>
                    <a:pt x="19" y="107"/>
                    <a:pt x="22" y="107"/>
                    <a:pt x="25" y="106"/>
                  </a:cubicBezTo>
                  <a:cubicBezTo>
                    <a:pt x="25" y="106"/>
                    <a:pt x="25" y="106"/>
                    <a:pt x="26" y="106"/>
                  </a:cubicBezTo>
                  <a:cubicBezTo>
                    <a:pt x="28" y="106"/>
                    <a:pt x="30" y="106"/>
                    <a:pt x="31" y="107"/>
                  </a:cubicBezTo>
                  <a:cubicBezTo>
                    <a:pt x="40" y="109"/>
                    <a:pt x="48" y="109"/>
                    <a:pt x="57" y="109"/>
                  </a:cubicBezTo>
                  <a:cubicBezTo>
                    <a:pt x="66" y="107"/>
                    <a:pt x="74" y="107"/>
                    <a:pt x="80" y="99"/>
                  </a:cubicBezTo>
                  <a:cubicBezTo>
                    <a:pt x="94" y="81"/>
                    <a:pt x="80" y="48"/>
                    <a:pt x="85" y="23"/>
                  </a:cubicBezTo>
                  <a:close/>
                  <a:moveTo>
                    <a:pt x="27" y="76"/>
                  </a:moveTo>
                  <a:cubicBezTo>
                    <a:pt x="31" y="78"/>
                    <a:pt x="33" y="82"/>
                    <a:pt x="32" y="89"/>
                  </a:cubicBezTo>
                  <a:cubicBezTo>
                    <a:pt x="24" y="91"/>
                    <a:pt x="28" y="81"/>
                    <a:pt x="27" y="76"/>
                  </a:cubicBezTo>
                  <a:close/>
                  <a:moveTo>
                    <a:pt x="30" y="38"/>
                  </a:moveTo>
                  <a:cubicBezTo>
                    <a:pt x="23" y="36"/>
                    <a:pt x="28" y="25"/>
                    <a:pt x="35" y="28"/>
                  </a:cubicBezTo>
                  <a:cubicBezTo>
                    <a:pt x="37" y="35"/>
                    <a:pt x="30" y="33"/>
                    <a:pt x="30" y="38"/>
                  </a:cubicBezTo>
                  <a:close/>
                  <a:moveTo>
                    <a:pt x="63" y="38"/>
                  </a:moveTo>
                  <a:cubicBezTo>
                    <a:pt x="66" y="39"/>
                    <a:pt x="65" y="44"/>
                    <a:pt x="65" y="48"/>
                  </a:cubicBezTo>
                  <a:cubicBezTo>
                    <a:pt x="63" y="47"/>
                    <a:pt x="61" y="45"/>
                    <a:pt x="57" y="46"/>
                  </a:cubicBezTo>
                  <a:cubicBezTo>
                    <a:pt x="58" y="42"/>
                    <a:pt x="62" y="42"/>
                    <a:pt x="63" y="38"/>
                  </a:cubicBezTo>
                  <a:close/>
                  <a:moveTo>
                    <a:pt x="65" y="66"/>
                  </a:moveTo>
                  <a:cubicBezTo>
                    <a:pt x="69" y="67"/>
                    <a:pt x="67" y="72"/>
                    <a:pt x="68" y="76"/>
                  </a:cubicBezTo>
                  <a:cubicBezTo>
                    <a:pt x="62" y="75"/>
                    <a:pt x="62" y="69"/>
                    <a:pt x="65" y="6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6384513" y="1028224"/>
              <a:ext cx="141451" cy="168500"/>
            </a:xfrm>
            <a:custGeom>
              <a:avLst/>
              <a:gdLst/>
              <a:ahLst/>
              <a:cxnLst/>
              <a:rect l="l" t="t" r="r" b="b"/>
              <a:pathLst>
                <a:path w="94" h="109">
                  <a:moveTo>
                    <a:pt x="86" y="23"/>
                  </a:moveTo>
                  <a:cubicBezTo>
                    <a:pt x="69" y="0"/>
                    <a:pt x="8" y="2"/>
                    <a:pt x="2" y="38"/>
                  </a:cubicBezTo>
                  <a:cubicBezTo>
                    <a:pt x="21" y="48"/>
                    <a:pt x="0" y="91"/>
                    <a:pt x="17" y="106"/>
                  </a:cubicBezTo>
                  <a:cubicBezTo>
                    <a:pt x="19" y="107"/>
                    <a:pt x="22" y="107"/>
                    <a:pt x="25" y="106"/>
                  </a:cubicBezTo>
                  <a:cubicBezTo>
                    <a:pt x="25" y="106"/>
                    <a:pt x="26" y="106"/>
                    <a:pt x="26" y="106"/>
                  </a:cubicBezTo>
                  <a:cubicBezTo>
                    <a:pt x="28" y="106"/>
                    <a:pt x="30" y="106"/>
                    <a:pt x="31" y="107"/>
                  </a:cubicBezTo>
                  <a:cubicBezTo>
                    <a:pt x="40" y="109"/>
                    <a:pt x="49" y="109"/>
                    <a:pt x="57" y="109"/>
                  </a:cubicBezTo>
                  <a:cubicBezTo>
                    <a:pt x="66" y="107"/>
                    <a:pt x="74" y="107"/>
                    <a:pt x="81" y="99"/>
                  </a:cubicBezTo>
                  <a:cubicBezTo>
                    <a:pt x="94" y="81"/>
                    <a:pt x="80" y="48"/>
                    <a:pt x="86" y="23"/>
                  </a:cubicBezTo>
                  <a:close/>
                  <a:moveTo>
                    <a:pt x="27" y="76"/>
                  </a:moveTo>
                  <a:cubicBezTo>
                    <a:pt x="31" y="78"/>
                    <a:pt x="33" y="82"/>
                    <a:pt x="32" y="89"/>
                  </a:cubicBezTo>
                  <a:cubicBezTo>
                    <a:pt x="24" y="91"/>
                    <a:pt x="28" y="81"/>
                    <a:pt x="27" y="76"/>
                  </a:cubicBezTo>
                  <a:close/>
                  <a:moveTo>
                    <a:pt x="30" y="38"/>
                  </a:moveTo>
                  <a:cubicBezTo>
                    <a:pt x="24" y="36"/>
                    <a:pt x="29" y="25"/>
                    <a:pt x="35" y="28"/>
                  </a:cubicBezTo>
                  <a:cubicBezTo>
                    <a:pt x="37" y="35"/>
                    <a:pt x="30" y="33"/>
                    <a:pt x="30" y="38"/>
                  </a:cubicBezTo>
                  <a:close/>
                  <a:moveTo>
                    <a:pt x="63" y="38"/>
                  </a:moveTo>
                  <a:cubicBezTo>
                    <a:pt x="66" y="39"/>
                    <a:pt x="65" y="44"/>
                    <a:pt x="65" y="48"/>
                  </a:cubicBezTo>
                  <a:cubicBezTo>
                    <a:pt x="63" y="47"/>
                    <a:pt x="61" y="45"/>
                    <a:pt x="58" y="46"/>
                  </a:cubicBezTo>
                  <a:cubicBezTo>
                    <a:pt x="59" y="42"/>
                    <a:pt x="62" y="42"/>
                    <a:pt x="63" y="38"/>
                  </a:cubicBezTo>
                  <a:close/>
                  <a:moveTo>
                    <a:pt x="65" y="66"/>
                  </a:moveTo>
                  <a:cubicBezTo>
                    <a:pt x="69" y="67"/>
                    <a:pt x="67" y="72"/>
                    <a:pt x="68" y="76"/>
                  </a:cubicBezTo>
                  <a:cubicBezTo>
                    <a:pt x="62" y="75"/>
                    <a:pt x="62" y="69"/>
                    <a:pt x="65" y="66"/>
                  </a:cubicBezTo>
                  <a:close/>
                </a:path>
              </a:pathLst>
            </a:custGeom>
            <a:solidFill>
              <a:srgbClr val="C1E9C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6699967" y="1016000"/>
              <a:ext cx="142015" cy="168500"/>
            </a:xfrm>
            <a:custGeom>
              <a:avLst/>
              <a:gdLst/>
              <a:ahLst/>
              <a:cxnLst/>
              <a:rect l="l" t="t" r="r" b="b"/>
              <a:pathLst>
                <a:path w="94" h="109">
                  <a:moveTo>
                    <a:pt x="86" y="23"/>
                  </a:moveTo>
                  <a:cubicBezTo>
                    <a:pt x="69" y="0"/>
                    <a:pt x="8" y="2"/>
                    <a:pt x="2" y="38"/>
                  </a:cubicBezTo>
                  <a:cubicBezTo>
                    <a:pt x="21" y="48"/>
                    <a:pt x="0" y="91"/>
                    <a:pt x="17" y="107"/>
                  </a:cubicBezTo>
                  <a:cubicBezTo>
                    <a:pt x="19" y="107"/>
                    <a:pt x="22" y="107"/>
                    <a:pt x="25" y="107"/>
                  </a:cubicBezTo>
                  <a:cubicBezTo>
                    <a:pt x="25" y="107"/>
                    <a:pt x="26" y="107"/>
                    <a:pt x="26" y="107"/>
                  </a:cubicBezTo>
                  <a:cubicBezTo>
                    <a:pt x="28" y="106"/>
                    <a:pt x="30" y="107"/>
                    <a:pt x="31" y="107"/>
                  </a:cubicBezTo>
                  <a:cubicBezTo>
                    <a:pt x="40" y="109"/>
                    <a:pt x="49" y="109"/>
                    <a:pt x="57" y="109"/>
                  </a:cubicBezTo>
                  <a:cubicBezTo>
                    <a:pt x="66" y="107"/>
                    <a:pt x="75" y="107"/>
                    <a:pt x="81" y="99"/>
                  </a:cubicBezTo>
                  <a:cubicBezTo>
                    <a:pt x="94" y="81"/>
                    <a:pt x="80" y="48"/>
                    <a:pt x="86" y="23"/>
                  </a:cubicBezTo>
                  <a:close/>
                  <a:moveTo>
                    <a:pt x="27" y="76"/>
                  </a:moveTo>
                  <a:cubicBezTo>
                    <a:pt x="31" y="79"/>
                    <a:pt x="33" y="83"/>
                    <a:pt x="32" y="89"/>
                  </a:cubicBezTo>
                  <a:cubicBezTo>
                    <a:pt x="24" y="92"/>
                    <a:pt x="29" y="81"/>
                    <a:pt x="27" y="76"/>
                  </a:cubicBezTo>
                  <a:close/>
                  <a:moveTo>
                    <a:pt x="30" y="38"/>
                  </a:moveTo>
                  <a:cubicBezTo>
                    <a:pt x="24" y="37"/>
                    <a:pt x="29" y="26"/>
                    <a:pt x="35" y="28"/>
                  </a:cubicBezTo>
                  <a:cubicBezTo>
                    <a:pt x="37" y="35"/>
                    <a:pt x="30" y="33"/>
                    <a:pt x="30" y="38"/>
                  </a:cubicBezTo>
                  <a:close/>
                  <a:moveTo>
                    <a:pt x="63" y="38"/>
                  </a:moveTo>
                  <a:cubicBezTo>
                    <a:pt x="66" y="39"/>
                    <a:pt x="65" y="45"/>
                    <a:pt x="65" y="49"/>
                  </a:cubicBezTo>
                  <a:cubicBezTo>
                    <a:pt x="63" y="47"/>
                    <a:pt x="61" y="46"/>
                    <a:pt x="58" y="46"/>
                  </a:cubicBezTo>
                  <a:cubicBezTo>
                    <a:pt x="59" y="43"/>
                    <a:pt x="62" y="42"/>
                    <a:pt x="63" y="38"/>
                  </a:cubicBezTo>
                  <a:close/>
                  <a:moveTo>
                    <a:pt x="65" y="66"/>
                  </a:moveTo>
                  <a:cubicBezTo>
                    <a:pt x="69" y="67"/>
                    <a:pt x="67" y="73"/>
                    <a:pt x="68" y="76"/>
                  </a:cubicBezTo>
                  <a:cubicBezTo>
                    <a:pt x="62" y="76"/>
                    <a:pt x="62" y="70"/>
                    <a:pt x="65" y="66"/>
                  </a:cubicBezTo>
                  <a:close/>
                </a:path>
              </a:pathLst>
            </a:custGeom>
            <a:solidFill>
              <a:srgbClr val="58C9E8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5885">
              <a:alpha val="10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39037" y="5788464"/>
            <a:ext cx="6626927" cy="1069536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7464" y="4723548"/>
            <a:ext cx="1495415" cy="1371600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5727" y="5197374"/>
            <a:ext cx="1221376" cy="714531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303360"/>
            <a:ext cx="10858500" cy="204405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基于洛伦兹模型的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510583"/>
            <a:ext cx="10858500" cy="98826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单模双频贴片天线开题报告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514600" y="4624380"/>
            <a:ext cx="1465580" cy="375920"/>
          </a:xfrm>
          <a:prstGeom prst="roundRect">
            <a:avLst>
              <a:gd name="adj" fmla="val 50000"/>
            </a:avLst>
          </a:prstGeom>
          <a:solidFill>
            <a:srgbClr val="E53238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altLang="en-US" sz="1100" dirty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</a:rPr>
              <a:t>王玉衡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7924800" y="4617743"/>
            <a:ext cx="1465580" cy="375920"/>
          </a:xfrm>
          <a:prstGeom prst="roundRect">
            <a:avLst>
              <a:gd name="adj" fmla="val 50000"/>
            </a:avLst>
          </a:prstGeom>
          <a:solidFill>
            <a:srgbClr val="E53238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altLang="en-US" sz="1100" dirty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</a:rPr>
              <a:t>林义非</a:t>
            </a:r>
            <a:endParaRPr lang="en-US" sz="110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D746B50-438C-1EDE-EE19-BE5D8A6F03CB}"/>
              </a:ext>
            </a:extLst>
          </p:cNvPr>
          <p:cNvSpPr txBox="1"/>
          <p:nvPr/>
        </p:nvSpPr>
        <p:spPr>
          <a:xfrm>
            <a:off x="5257800" y="4617743"/>
            <a:ext cx="1465580" cy="375920"/>
          </a:xfrm>
          <a:prstGeom prst="roundRect">
            <a:avLst>
              <a:gd name="adj" fmla="val 50000"/>
            </a:avLst>
          </a:prstGeom>
          <a:solidFill>
            <a:srgbClr val="E53238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altLang="en-US" sz="1100" dirty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</a:rPr>
              <a:t>穆江涛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aed9d6-c0d5-402d-a13c-963d60d56e8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4" name="AutoShape 4"/>
            <p:cNvSpPr/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rgbClr val="E53238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E53238">
                      <a:alpha val="0"/>
                    </a:srgbClr>
                  </a:gs>
                  <a:gs pos="100000">
                    <a:srgbClr val="E53238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3650127"/>
              <a:ext cx="2568077" cy="1785484"/>
              <a:chOff x="430475" y="3650127"/>
              <a:chExt cx="2568077" cy="178548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E53238">
                      <a:alpha val="100000"/>
                      <a:lumMod val="60000"/>
                      <a:lumOff val="40000"/>
                    </a:srgbClr>
                  </a:gs>
                  <a:gs pos="75000">
                    <a:srgbClr val="E53238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>
                <a:off x="430475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研究背景与挑战</a:t>
                  </a:r>
                  <a:endParaRPr lang="en-US" sz="1100"/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E53238">
                          <a:alpha val="0"/>
                        </a:srgbClr>
                      </a:gs>
                      <a:gs pos="100000">
                        <a:srgbClr val="E53238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1" name="Group 11"/>
            <p:cNvGrpSpPr/>
            <p:nvPr/>
          </p:nvGrpSpPr>
          <p:grpSpPr>
            <a:xfrm>
              <a:off x="2694819" y="2441361"/>
              <a:ext cx="2568077" cy="1795270"/>
              <a:chOff x="2091348" y="2441361"/>
              <a:chExt cx="2568077" cy="179527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475885">
                      <a:alpha val="100000"/>
                      <a:lumMod val="60000"/>
                      <a:lumOff val="40000"/>
                    </a:srgbClr>
                  </a:gs>
                  <a:gs pos="75000">
                    <a:srgbClr val="475885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2091348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理论基础分析</a:t>
                  </a:r>
                  <a:endParaRPr lang="en-US" sz="1100"/>
                </a:p>
              </p:txBody>
            </p:sp>
            <p:sp>
              <p:nvSpPr>
                <p:cNvPr id="15" name="AutoShape 1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E53238">
                          <a:alpha val="0"/>
                        </a:srgbClr>
                      </a:gs>
                      <a:gs pos="100000">
                        <a:srgbClr val="E53238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6" name="AutoShape 16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729238" y="3650127"/>
              <a:ext cx="2568077" cy="1785484"/>
              <a:chOff x="3751497" y="3650127"/>
              <a:chExt cx="2568077" cy="178548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E53238">
                      <a:alpha val="100000"/>
                      <a:lumMod val="60000"/>
                      <a:lumOff val="40000"/>
                    </a:srgbClr>
                  </a:gs>
                  <a:gs pos="75000">
                    <a:srgbClr val="E53238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3751497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介质材料的实现</a:t>
                  </a:r>
                  <a:endParaRPr lang="en-US" sz="1100"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E53238">
                          <a:alpha val="0"/>
                        </a:srgbClr>
                      </a:gs>
                      <a:gs pos="100000">
                        <a:srgbClr val="E53238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2" name="Group 22"/>
            <p:cNvGrpSpPr/>
            <p:nvPr/>
          </p:nvGrpSpPr>
          <p:grpSpPr>
            <a:xfrm>
              <a:off x="6763657" y="2441361"/>
              <a:ext cx="2568077" cy="1795270"/>
              <a:chOff x="5444712" y="2441361"/>
              <a:chExt cx="2568077" cy="179527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475885">
                      <a:alpha val="100000"/>
                      <a:lumMod val="60000"/>
                      <a:lumOff val="40000"/>
                    </a:srgbClr>
                  </a:gs>
                  <a:gs pos="75000">
                    <a:srgbClr val="475885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5444712" y="2441361"/>
                <a:ext cx="2568077" cy="1205891"/>
                <a:chOff x="1663877" y="5316110"/>
                <a:chExt cx="2568077" cy="1205891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1663877" y="5316110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天线设计与验证</a:t>
                  </a:r>
                  <a:endParaRPr lang="en-US" sz="1100"/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E53238">
                          <a:alpha val="0"/>
                        </a:srgbClr>
                      </a:gs>
                      <a:gs pos="100000">
                        <a:srgbClr val="E53238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8798076" y="3650127"/>
              <a:ext cx="2568077" cy="1785484"/>
              <a:chOff x="7127744" y="3650127"/>
              <a:chExt cx="2568077" cy="178548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E53238">
                      <a:alpha val="100000"/>
                      <a:lumMod val="60000"/>
                      <a:lumOff val="40000"/>
                    </a:srgbClr>
                  </a:gs>
                  <a:gs pos="75000">
                    <a:srgbClr val="E53238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127744" y="4236631"/>
                <a:ext cx="2568077" cy="1198980"/>
                <a:chOff x="1670227" y="4601292"/>
                <a:chExt cx="2568077" cy="1198980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1670227" y="5090848"/>
                  <a:ext cx="2568077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总结与展望</a:t>
                  </a:r>
                  <a:endParaRPr lang="en-US" sz="1100"/>
                </a:p>
              </p:txBody>
            </p:sp>
            <p:sp>
              <p:nvSpPr>
                <p:cNvPr id="31" name="AutoShape 31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E53238">
                          <a:alpha val="0"/>
                        </a:srgbClr>
                      </a:gs>
                      <a:gs pos="100000">
                        <a:srgbClr val="E53238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2" name="TextBox 32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343" y="1683657"/>
            <a:ext cx="10733314" cy="21371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研究背景与挑战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29344" y="4013141"/>
            <a:ext cx="10733313" cy="11286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30cb17-0e1a-4cc9-b525-00e2a7c970e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362104"/>
            <a:ext cx="10966186" cy="4771996"/>
            <a:chOff x="660400" y="1362103"/>
            <a:chExt cx="10966186" cy="4771996"/>
          </a:xfrm>
        </p:grpSpPr>
        <p:sp>
          <p:nvSpPr>
            <p:cNvPr id="4" name="AutoShape 4"/>
            <p:cNvSpPr/>
            <p:nvPr/>
          </p:nvSpPr>
          <p:spPr>
            <a:xfrm>
              <a:off x="660400" y="2840123"/>
              <a:ext cx="10858499" cy="861268"/>
            </a:xfrm>
            <a:custGeom>
              <a:avLst/>
              <a:gdLst/>
              <a:ahLst/>
              <a:cxnLst/>
              <a:rect l="l" t="t" r="r" b="b"/>
              <a:pathLst>
                <a:path w="10808660" h="1030310">
                  <a:moveTo>
                    <a:pt x="10286276" y="0"/>
                  </a:moveTo>
                  <a:lnTo>
                    <a:pt x="10286277" y="1"/>
                  </a:lnTo>
                  <a:lnTo>
                    <a:pt x="10286277" y="1"/>
                  </a:lnTo>
                  <a:lnTo>
                    <a:pt x="10286277" y="2"/>
                  </a:lnTo>
                  <a:lnTo>
                    <a:pt x="10808660" y="515156"/>
                  </a:lnTo>
                  <a:lnTo>
                    <a:pt x="10286277" y="1030309"/>
                  </a:lnTo>
                  <a:lnTo>
                    <a:pt x="10286277" y="1030310"/>
                  </a:lnTo>
                  <a:lnTo>
                    <a:pt x="0" y="1030310"/>
                  </a:lnTo>
                  <a:lnTo>
                    <a:pt x="0" y="1"/>
                  </a:lnTo>
                  <a:lnTo>
                    <a:pt x="10286276" y="1"/>
                  </a:lnTo>
                  <a:close/>
                </a:path>
              </a:pathLst>
            </a:custGeom>
            <a:gradFill>
              <a:gsLst>
                <a:gs pos="14000">
                  <a:srgbClr val="475885">
                    <a:alpha val="100000"/>
                  </a:srgbClr>
                </a:gs>
                <a:gs pos="100000">
                  <a:srgbClr val="E53238">
                    <a:alpha val="100000"/>
                  </a:srgbClr>
                </a:gs>
              </a:gsLst>
              <a:lin ang="189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rot="5400000">
              <a:off x="3842915" y="-342391"/>
              <a:ext cx="861270" cy="7226300"/>
            </a:xfrm>
            <a:custGeom>
              <a:avLst/>
              <a:gdLst/>
              <a:ahLst/>
              <a:cxnLst/>
              <a:rect l="l" t="t" r="r" b="b"/>
              <a:pathLst>
                <a:path w="1030313" h="8197759">
                  <a:moveTo>
                    <a:pt x="2" y="8197759"/>
                  </a:moveTo>
                  <a:lnTo>
                    <a:pt x="2" y="548736"/>
                  </a:lnTo>
                  <a:lnTo>
                    <a:pt x="1030313" y="548736"/>
                  </a:lnTo>
                  <a:lnTo>
                    <a:pt x="1030313" y="8197759"/>
                  </a:lnTo>
                  <a:close/>
                  <a:moveTo>
                    <a:pt x="0" y="548733"/>
                  </a:moveTo>
                  <a:lnTo>
                    <a:pt x="515155" y="0"/>
                  </a:lnTo>
                  <a:lnTo>
                    <a:pt x="1030309" y="548733"/>
                  </a:lnTo>
                  <a:close/>
                </a:path>
              </a:pathLst>
            </a:custGeom>
            <a:gradFill>
              <a:gsLst>
                <a:gs pos="14000">
                  <a:srgbClr val="475885">
                    <a:alpha val="100000"/>
                  </a:srgbClr>
                </a:gs>
                <a:gs pos="100000">
                  <a:srgbClr val="E53238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5400000">
              <a:off x="1912514" y="1588009"/>
              <a:ext cx="861272" cy="3365499"/>
            </a:xfrm>
            <a:custGeom>
              <a:avLst/>
              <a:gdLst/>
              <a:ahLst/>
              <a:cxnLst/>
              <a:rect l="l" t="t" r="r" b="b"/>
              <a:pathLst>
                <a:path w="1030314" h="5586855">
                  <a:moveTo>
                    <a:pt x="3" y="5586855"/>
                  </a:moveTo>
                  <a:lnTo>
                    <a:pt x="3" y="561849"/>
                  </a:lnTo>
                  <a:lnTo>
                    <a:pt x="1030314" y="561849"/>
                  </a:lnTo>
                  <a:lnTo>
                    <a:pt x="1030314" y="5586855"/>
                  </a:lnTo>
                  <a:close/>
                  <a:moveTo>
                    <a:pt x="0" y="561847"/>
                  </a:moveTo>
                  <a:lnTo>
                    <a:pt x="515156" y="0"/>
                  </a:lnTo>
                  <a:lnTo>
                    <a:pt x="1030309" y="561847"/>
                  </a:lnTo>
                  <a:close/>
                </a:path>
              </a:pathLst>
            </a:custGeom>
            <a:gradFill>
              <a:gsLst>
                <a:gs pos="14000">
                  <a:srgbClr val="475885">
                    <a:alpha val="100000"/>
                  </a:srgbClr>
                </a:gs>
                <a:gs pos="100000">
                  <a:srgbClr val="E53238">
                    <a:alpha val="100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362103"/>
              <a:ext cx="10858500" cy="113556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双频天线在多应用系统中的重要性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3008290"/>
              <a:ext cx="3100630" cy="3125809"/>
              <a:chOff x="3064709" y="3008290"/>
              <a:chExt cx="3100630" cy="312580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3064709" y="3839912"/>
                <a:ext cx="310063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多应用需求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064709" y="4487912"/>
                <a:ext cx="3100630" cy="16461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现代无线通信系统常需同时支持多种无线标准与应用，这对天线性能提出了更高要求。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874813" y="3008290"/>
                <a:ext cx="1480421" cy="5249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593178" y="3008290"/>
              <a:ext cx="3100630" cy="3125809"/>
              <a:chOff x="5795332" y="3008290"/>
              <a:chExt cx="3100630" cy="312580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795332" y="3839912"/>
                <a:ext cx="310063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双频天线必要性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795332" y="4487912"/>
                <a:ext cx="3100630" cy="16461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单一天线实现双频工作，能有效节省设备空间、降低成本，是系统集成化的关键。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5437" y="3008290"/>
                <a:ext cx="1480421" cy="5249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525956" y="3008290"/>
              <a:ext cx="3100630" cy="3125809"/>
              <a:chOff x="8525956" y="3008290"/>
              <a:chExt cx="3100630" cy="312580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525956" y="3839912"/>
                <a:ext cx="3100630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性能与空间挑战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25956" y="4487912"/>
                <a:ext cx="3100630" cy="16461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在有限物理空间内，设计出兼具良好阻抗匹配、增益和辐射方向图的双频天线极具挑战。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36062" y="3008290"/>
                <a:ext cx="1480419" cy="5249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无线通信的需求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5c9360d-5c05-44ad-878d-b1c195c5da5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7296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概述当前主流的双频天线设计方案及其局限性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5212387" y="1960750"/>
              <a:ext cx="1754527" cy="0"/>
            </a:xfrm>
            <a:prstGeom prst="line">
              <a:avLst/>
            </a:prstGeom>
            <a:ln w="22225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2257722"/>
              <a:ext cx="2508989" cy="3876378"/>
              <a:chOff x="818851" y="2257722"/>
              <a:chExt cx="2508989" cy="3876378"/>
            </a:xfrm>
          </p:grpSpPr>
          <p:sp>
            <p:nvSpPr>
              <p:cNvPr id="7" name="AutoShape 7"/>
              <p:cNvSpPr/>
              <p:nvPr/>
            </p:nvSpPr>
            <p:spPr>
              <a:xfrm flipV="1">
                <a:off x="818851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2630318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18851" y="2257722"/>
                <a:ext cx="2506937" cy="3876378"/>
                <a:chOff x="818851" y="2257722"/>
                <a:chExt cx="2506937" cy="3876378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1609994" y="5652153"/>
                  <a:ext cx="924650" cy="141821"/>
                  <a:chOff x="1897459" y="5652153"/>
                  <a:chExt cx="924650" cy="141821"/>
                </a:xfrm>
              </p:grpSpPr>
              <p:sp>
                <p:nvSpPr>
                  <p:cNvPr id="11" name="AutoShape 11"/>
                  <p:cNvSpPr/>
                  <p:nvPr/>
                </p:nvSpPr>
                <p:spPr>
                  <a:xfrm>
                    <a:off x="189745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" name="AutoShape 12"/>
                  <p:cNvSpPr/>
                  <p:nvPr/>
                </p:nvSpPr>
                <p:spPr>
                  <a:xfrm>
                    <a:off x="2158402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3" name="AutoShape 13"/>
                  <p:cNvSpPr/>
                  <p:nvPr/>
                </p:nvSpPr>
                <p:spPr>
                  <a:xfrm>
                    <a:off x="2419345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" name="AutoShape 14"/>
                  <p:cNvSpPr/>
                  <p:nvPr/>
                </p:nvSpPr>
                <p:spPr>
                  <a:xfrm>
                    <a:off x="2680288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5" name="AutoShape 15"/>
                <p:cNvSpPr/>
                <p:nvPr/>
              </p:nvSpPr>
              <p:spPr>
                <a:xfrm>
                  <a:off x="818851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6" name="Group 16"/>
                <p:cNvGrpSpPr/>
                <p:nvPr/>
              </p:nvGrpSpPr>
              <p:grpSpPr>
                <a:xfrm>
                  <a:off x="992088" y="2257722"/>
                  <a:ext cx="2160462" cy="3178905"/>
                  <a:chOff x="967017" y="2257722"/>
                  <a:chExt cx="2785534" cy="3178905"/>
                </a:xfrm>
              </p:grpSpPr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1640340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ln/>
                        <a:solidFill>
                          <a:srgbClr val="2F2F2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01</a:t>
                    </a:r>
                    <a:endParaRPr lang="en-US" sz="1100"/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967017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Heavy"/>
                        <a:ea typeface="思源黑体 CN Heavy"/>
                        <a:cs typeface="思源黑体 CN Heavy"/>
                      </a:rPr>
                      <a:t>双天线组合法</a:t>
                    </a:r>
                    <a:endParaRPr lang="en-US" sz="1100"/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967018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Medium"/>
                        <a:ea typeface="思源黑体 CN Medium"/>
                        <a:cs typeface="思源黑体 CN Medium"/>
                      </a:rPr>
                      <a:t>将两个不同频段的天线进行组合或堆叠，但会引入强互耦，导致性能下降。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20" name="Group 20"/>
            <p:cNvGrpSpPr/>
            <p:nvPr/>
          </p:nvGrpSpPr>
          <p:grpSpPr>
            <a:xfrm>
              <a:off x="3443570" y="2257722"/>
              <a:ext cx="2508989" cy="3876378"/>
              <a:chOff x="3843634" y="2257722"/>
              <a:chExt cx="2508989" cy="3876378"/>
            </a:xfrm>
          </p:grpSpPr>
          <p:sp>
            <p:nvSpPr>
              <p:cNvPr id="21" name="AutoShape 21"/>
              <p:cNvSpPr/>
              <p:nvPr/>
            </p:nvSpPr>
            <p:spPr>
              <a:xfrm flipV="1">
                <a:off x="3843634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5655101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3843634" y="2257722"/>
                <a:ext cx="2506937" cy="3876378"/>
                <a:chOff x="4548713" y="2257722"/>
                <a:chExt cx="2506937" cy="3876378"/>
              </a:xfrm>
            </p:grpSpPr>
            <p:sp>
              <p:nvSpPr>
                <p:cNvPr id="24" name="AutoShape 24"/>
                <p:cNvSpPr/>
                <p:nvPr/>
              </p:nvSpPr>
              <p:spPr>
                <a:xfrm>
                  <a:off x="4548713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25" name="Group 25"/>
                <p:cNvGrpSpPr/>
                <p:nvPr/>
              </p:nvGrpSpPr>
              <p:grpSpPr>
                <a:xfrm>
                  <a:off x="5339856" y="5652153"/>
                  <a:ext cx="924650" cy="141821"/>
                  <a:chOff x="5627323" y="5652153"/>
                  <a:chExt cx="924650" cy="141821"/>
                </a:xfrm>
              </p:grpSpPr>
              <p:sp>
                <p:nvSpPr>
                  <p:cNvPr id="26" name="AutoShape 26"/>
                  <p:cNvSpPr/>
                  <p:nvPr/>
                </p:nvSpPr>
                <p:spPr>
                  <a:xfrm>
                    <a:off x="562732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7" name="AutoShape 27"/>
                  <p:cNvSpPr/>
                  <p:nvPr/>
                </p:nvSpPr>
                <p:spPr>
                  <a:xfrm>
                    <a:off x="588826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8" name="AutoShape 28"/>
                  <p:cNvSpPr/>
                  <p:nvPr/>
                </p:nvSpPr>
                <p:spPr>
                  <a:xfrm>
                    <a:off x="614920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9" name="AutoShape 29"/>
                  <p:cNvSpPr/>
                  <p:nvPr/>
                </p:nvSpPr>
                <p:spPr>
                  <a:xfrm>
                    <a:off x="6410152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30" name="Group 30"/>
                <p:cNvGrpSpPr/>
                <p:nvPr/>
              </p:nvGrpSpPr>
              <p:grpSpPr>
                <a:xfrm>
                  <a:off x="4721950" y="2257722"/>
                  <a:ext cx="2160462" cy="3178905"/>
                  <a:chOff x="4696881" y="2257722"/>
                  <a:chExt cx="2785534" cy="3178905"/>
                </a:xfrm>
              </p:grpSpPr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5370204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ln/>
                        <a:solidFill>
                          <a:srgbClr val="2F2F2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02</a:t>
                    </a:r>
                    <a:endParaRPr lang="en-US" sz="1100"/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4696881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Heavy"/>
                        <a:ea typeface="思源黑体 CN Heavy"/>
                        <a:cs typeface="思源黑体 CN Heavy"/>
                      </a:rPr>
                      <a:t>口径共享天线</a:t>
                    </a:r>
                    <a:endParaRPr lang="en-US" sz="1100"/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696882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Medium"/>
                        <a:ea typeface="思源黑体 CN Medium"/>
                        <a:cs typeface="思源黑体 CN Medium"/>
                      </a:rPr>
                      <a:t>利用单一口径的多种工作模式（如TM10和TM30）实现双频，但模式控制复杂。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34" name="Group 34"/>
            <p:cNvGrpSpPr/>
            <p:nvPr/>
          </p:nvGrpSpPr>
          <p:grpSpPr>
            <a:xfrm>
              <a:off x="6226740" y="2257722"/>
              <a:ext cx="2508989" cy="3876378"/>
              <a:chOff x="6482828" y="2257722"/>
              <a:chExt cx="2508989" cy="3876378"/>
            </a:xfrm>
          </p:grpSpPr>
          <p:sp>
            <p:nvSpPr>
              <p:cNvPr id="35" name="AutoShape 35"/>
              <p:cNvSpPr/>
              <p:nvPr/>
            </p:nvSpPr>
            <p:spPr>
              <a:xfrm flipV="1">
                <a:off x="6482828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6" name="AutoShape 36"/>
              <p:cNvSpPr/>
              <p:nvPr/>
            </p:nvSpPr>
            <p:spPr>
              <a:xfrm>
                <a:off x="8294295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6482828" y="2257722"/>
                <a:ext cx="2506937" cy="3876378"/>
                <a:chOff x="8278576" y="2257722"/>
                <a:chExt cx="2506937" cy="3876378"/>
              </a:xfrm>
            </p:grpSpPr>
            <p:sp>
              <p:nvSpPr>
                <p:cNvPr id="38" name="AutoShape 38"/>
                <p:cNvSpPr/>
                <p:nvPr/>
              </p:nvSpPr>
              <p:spPr>
                <a:xfrm>
                  <a:off x="8278576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39" name="Group 39"/>
                <p:cNvGrpSpPr/>
                <p:nvPr/>
              </p:nvGrpSpPr>
              <p:grpSpPr>
                <a:xfrm>
                  <a:off x="9069719" y="5652153"/>
                  <a:ext cx="924650" cy="141821"/>
                  <a:chOff x="9357190" y="5652153"/>
                  <a:chExt cx="924650" cy="141821"/>
                </a:xfrm>
              </p:grpSpPr>
              <p:sp>
                <p:nvSpPr>
                  <p:cNvPr id="40" name="AutoShape 40"/>
                  <p:cNvSpPr/>
                  <p:nvPr/>
                </p:nvSpPr>
                <p:spPr>
                  <a:xfrm>
                    <a:off x="9357190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1" name="AutoShape 41"/>
                  <p:cNvSpPr/>
                  <p:nvPr/>
                </p:nvSpPr>
                <p:spPr>
                  <a:xfrm>
                    <a:off x="961813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2" name="AutoShape 42"/>
                  <p:cNvSpPr/>
                  <p:nvPr/>
                </p:nvSpPr>
                <p:spPr>
                  <a:xfrm>
                    <a:off x="987907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43" name="AutoShape 43"/>
                  <p:cNvSpPr/>
                  <p:nvPr/>
                </p:nvSpPr>
                <p:spPr>
                  <a:xfrm>
                    <a:off x="1014001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44" name="Group 44"/>
                <p:cNvGrpSpPr/>
                <p:nvPr/>
              </p:nvGrpSpPr>
              <p:grpSpPr>
                <a:xfrm>
                  <a:off x="8451813" y="2257722"/>
                  <a:ext cx="2160462" cy="3178905"/>
                  <a:chOff x="8426748" y="2257722"/>
                  <a:chExt cx="2785534" cy="3178905"/>
                </a:xfrm>
              </p:grpSpPr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9100071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ln/>
                        <a:solidFill>
                          <a:srgbClr val="2F2F2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03</a:t>
                    </a:r>
                    <a:endParaRPr lang="en-US" sz="1100"/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8426748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Heavy"/>
                        <a:ea typeface="思源黑体 CN Heavy"/>
                        <a:cs typeface="思源黑体 CN Heavy"/>
                      </a:rPr>
                      <a:t>超表面天线</a:t>
                    </a:r>
                    <a:endParaRPr lang="en-US" sz="1100"/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8426749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Medium"/>
                        <a:ea typeface="思源黑体 CN Medium"/>
                        <a:cs typeface="思源黑体 CN Medium"/>
                      </a:rPr>
                      <a:t>具有低剖面和宽带特性，但多为多模多频设计，实现单模双频仍有难度。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48" name="Group 48"/>
            <p:cNvGrpSpPr/>
            <p:nvPr/>
          </p:nvGrpSpPr>
          <p:grpSpPr>
            <a:xfrm>
              <a:off x="9009911" y="2257722"/>
              <a:ext cx="2508989" cy="3876378"/>
              <a:chOff x="6482828" y="2257722"/>
              <a:chExt cx="2508989" cy="3876378"/>
            </a:xfrm>
          </p:grpSpPr>
          <p:sp>
            <p:nvSpPr>
              <p:cNvPr id="49" name="AutoShape 49"/>
              <p:cNvSpPr/>
              <p:nvPr/>
            </p:nvSpPr>
            <p:spPr>
              <a:xfrm flipV="1">
                <a:off x="6482828" y="2815722"/>
                <a:ext cx="695467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8294295" y="2815722"/>
                <a:ext cx="697522" cy="8365"/>
              </a:xfrm>
              <a:prstGeom prst="line">
                <a:avLst/>
              </a:prstGeom>
              <a:ln w="190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6482828" y="2257722"/>
                <a:ext cx="2506937" cy="3876378"/>
                <a:chOff x="8278576" y="2257722"/>
                <a:chExt cx="2506937" cy="3876378"/>
              </a:xfrm>
            </p:grpSpPr>
            <p:sp>
              <p:nvSpPr>
                <p:cNvPr id="52" name="AutoShape 52"/>
                <p:cNvSpPr/>
                <p:nvPr/>
              </p:nvSpPr>
              <p:spPr>
                <a:xfrm>
                  <a:off x="8278576" y="2824087"/>
                  <a:ext cx="2506937" cy="331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1868" h="3310013">
                      <a:moveTo>
                        <a:pt x="3081868" y="0"/>
                      </a:moveTo>
                      <a:lnTo>
                        <a:pt x="3081868" y="3310013"/>
                      </a:lnTo>
                      <a:lnTo>
                        <a:pt x="0" y="3310013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53" name="Group 53"/>
                <p:cNvGrpSpPr/>
                <p:nvPr/>
              </p:nvGrpSpPr>
              <p:grpSpPr>
                <a:xfrm>
                  <a:off x="9069719" y="5652153"/>
                  <a:ext cx="924650" cy="141821"/>
                  <a:chOff x="9357190" y="5652153"/>
                  <a:chExt cx="924650" cy="141821"/>
                </a:xfrm>
              </p:grpSpPr>
              <p:sp>
                <p:nvSpPr>
                  <p:cNvPr id="54" name="AutoShape 54"/>
                  <p:cNvSpPr/>
                  <p:nvPr/>
                </p:nvSpPr>
                <p:spPr>
                  <a:xfrm>
                    <a:off x="9357190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5" name="AutoShape 55"/>
                  <p:cNvSpPr/>
                  <p:nvPr/>
                </p:nvSpPr>
                <p:spPr>
                  <a:xfrm>
                    <a:off x="9618133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6" name="AutoShape 56"/>
                  <p:cNvSpPr/>
                  <p:nvPr/>
                </p:nvSpPr>
                <p:spPr>
                  <a:xfrm>
                    <a:off x="9879076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57" name="AutoShape 57"/>
                  <p:cNvSpPr/>
                  <p:nvPr/>
                </p:nvSpPr>
                <p:spPr>
                  <a:xfrm>
                    <a:off x="10140019" y="5652153"/>
                    <a:ext cx="141821" cy="141821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58" name="Group 58"/>
                <p:cNvGrpSpPr/>
                <p:nvPr/>
              </p:nvGrpSpPr>
              <p:grpSpPr>
                <a:xfrm>
                  <a:off x="8451813" y="2257722"/>
                  <a:ext cx="2160462" cy="3178905"/>
                  <a:chOff x="8426748" y="2257722"/>
                  <a:chExt cx="2785534" cy="3178905"/>
                </a:xfrm>
              </p:grpSpPr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9100071" y="2257722"/>
                    <a:ext cx="1438885" cy="1116000"/>
                  </a:xfrm>
                  <a:prstGeom prst="rect">
                    <a:avLst/>
                  </a:prstGeom>
                  <a:solidFill>
                    <a:srgbClr val="FFFFFF">
                      <a:alpha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3600" b="1" i="0">
                        <a:ln/>
                        <a:solidFill>
                          <a:srgbClr val="2F2F2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04</a:t>
                    </a:r>
                    <a:endParaRPr lang="en-US" sz="1100"/>
                  </a:p>
                </p:txBody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8426748" y="3622598"/>
                    <a:ext cx="2785533" cy="534124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ctr">
                      <a:defRPr/>
                    </a:pPr>
                    <a:r>
                      <a:rPr lang="en-US" sz="18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Heavy"/>
                        <a:ea typeface="思源黑体 CN Heavy"/>
                        <a:cs typeface="思源黑体 CN Heavy"/>
                      </a:rPr>
                      <a:t>单模双频的挑战</a:t>
                    </a:r>
                    <a:endParaRPr lang="en-US" sz="1100"/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8426749" y="4156722"/>
                    <a:ext cx="2785533" cy="127990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思源黑体 CN Medium"/>
                        <a:ea typeface="思源黑体 CN Medium"/>
                        <a:cs typeface="思源黑体 CN Medium"/>
                      </a:rPr>
                      <a:t>现有单模双频天线多采用不同物理尺寸的结构，难以在紧凑空间内实现模式纯净。</a:t>
                    </a:r>
                    <a:endParaRPr lang="en-US" sz="1100"/>
                  </a:p>
                </p:txBody>
              </p:sp>
            </p:grpSp>
          </p:grpSp>
        </p:grpSp>
      </p:grpSp>
      <p:sp>
        <p:nvSpPr>
          <p:cNvPr id="62" name="TextBox 62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现有设计方法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343" y="1683657"/>
            <a:ext cx="10733314" cy="21371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理论基础分析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29344" y="4013141"/>
            <a:ext cx="10733313" cy="11286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深入探讨洛伦兹色散材料的特性，及其在实现单模双频天线设计中的理论依据。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71148b-8a8b-4a3d-add6-815812ddb44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AutoShape 4"/>
            <p:cNvSpPr/>
            <p:nvPr/>
          </p:nvSpPr>
          <p:spPr>
            <a:xfrm>
              <a:off x="0" y="6642000"/>
              <a:ext cx="12192000" cy="2160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E5323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648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介绍洛伦兹模型的物理背景与电磁特性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1940203"/>
              <a:ext cx="4971137" cy="2015997"/>
              <a:chOff x="660400" y="1940203"/>
              <a:chExt cx="4971137" cy="201599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400" y="2588202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模型背景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3236200"/>
                <a:ext cx="497113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洛伦兹模型是描述自然材料色散特性的经典理论，尤其在共振频率附近表现显著。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1940203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547762" y="1940203"/>
              <a:ext cx="4971137" cy="2015997"/>
              <a:chOff x="6547762" y="1940203"/>
              <a:chExt cx="4971137" cy="201599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547762" y="2588202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复数介电常数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47762" y="3236200"/>
                <a:ext cx="497113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材料的复数介电常数可分解为实部（Re）和虚部（Im），决定了其电磁响应。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47762" y="1940203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60400" y="4118103"/>
              <a:ext cx="4971137" cy="2015997"/>
              <a:chOff x="660400" y="4118103"/>
              <a:chExt cx="4971137" cy="201599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60400" y="4766102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损耗角正切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0400" y="5414100"/>
                <a:ext cx="497113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损耗角正切（tanδ）是衡量材料损耗的重要参数，在共振频率附近急剧增加。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0400" y="4118103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547762" y="4118103"/>
              <a:ext cx="4971137" cy="2015997"/>
              <a:chOff x="6547762" y="4118103"/>
              <a:chExt cx="4971137" cy="2015997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547762" y="4766102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模型参数影响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47762" y="5414100"/>
                <a:ext cx="4971137" cy="72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参数ωp和Γ对介电常数的实部、虚部曲线形状有重要影响，决定材料的色散特性。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47762" y="4118103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04.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洛伦兹模型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8b4f30-225c-4810-a346-9b65427ab63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231900"/>
            <a:ext cx="10862748" cy="4714240"/>
            <a:chOff x="660400" y="1231900"/>
            <a:chExt cx="10862748" cy="471424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231900"/>
              <a:ext cx="10858500" cy="5969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分析如何利用洛伦兹模型实现天线单模双频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8852" y="2261393"/>
              <a:ext cx="5294720" cy="1721597"/>
              <a:chOff x="668852" y="2261393"/>
              <a:chExt cx="5294720" cy="1721597"/>
            </a:xfrm>
          </p:grpSpPr>
          <p:sp>
            <p:nvSpPr>
              <p:cNvPr id="6" name="TextBox 6"/>
              <p:cNvSpPr txBox="1"/>
              <p:nvPr/>
            </p:nvSpPr>
            <p:spPr>
              <a:xfrm flipH="1">
                <a:off x="668852" y="2261393"/>
                <a:ext cx="3273292" cy="5183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等波长条件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 flipH="1">
                <a:off x="668852" y="2779788"/>
                <a:ext cx="3273292" cy="12003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基于洛伦兹材料在不同频段下折射率不同的特性，可实现天线在双频下物理尺寸相同。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149739" y="2264206"/>
                <a:ext cx="1813833" cy="1718784"/>
              </a:xfrm>
              <a:prstGeom prst="roundRect">
                <a:avLst>
                  <a:gd name="adj" fmla="val 8669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228426" y="2261393"/>
              <a:ext cx="5294721" cy="1721597"/>
              <a:chOff x="6228426" y="2261393"/>
              <a:chExt cx="5294721" cy="172159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249855" y="2261393"/>
                <a:ext cx="3273292" cy="5183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单模双频原理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249855" y="2779788"/>
                <a:ext cx="3273292" cy="12003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在低频段（f₁）和高频段（f₂），天线均能以同一模式（如TM10）工作，从而实现单模双频。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228426" y="2264206"/>
                <a:ext cx="1813833" cy="1718784"/>
              </a:xfrm>
              <a:prstGeom prst="roundRect">
                <a:avLst>
                  <a:gd name="adj" fmla="val 8669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68852" y="4227356"/>
              <a:ext cx="5294720" cy="1718784"/>
              <a:chOff x="668852" y="4227356"/>
              <a:chExt cx="5294720" cy="1718784"/>
            </a:xfrm>
          </p:grpSpPr>
          <p:sp>
            <p:nvSpPr>
              <p:cNvPr id="14" name="TextBox 14"/>
              <p:cNvSpPr txBox="1"/>
              <p:nvPr/>
            </p:nvSpPr>
            <p:spPr>
              <a:xfrm flipH="1">
                <a:off x="668852" y="4227356"/>
                <a:ext cx="3273292" cy="5183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模式扩展潜力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 flipH="1">
                <a:off x="668852" y="4745750"/>
                <a:ext cx="3273292" cy="12003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理论上，加载洛伦兹材料的N模天线，可扩展至2N个频率工作，极大拓展了频率范围。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149739" y="4227356"/>
                <a:ext cx="1813833" cy="1718784"/>
              </a:xfrm>
              <a:prstGeom prst="roundRect">
                <a:avLst>
                  <a:gd name="adj" fmla="val 8669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228426" y="4227356"/>
              <a:ext cx="5294722" cy="1718784"/>
              <a:chOff x="6228426" y="4227356"/>
              <a:chExt cx="5294722" cy="171878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28426" y="4227356"/>
                <a:ext cx="1813833" cy="1718784"/>
              </a:xfrm>
              <a:prstGeom prst="roundRect">
                <a:avLst>
                  <a:gd name="adj" fmla="val 8669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49856" y="4227356"/>
                <a:ext cx="3273292" cy="5183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有效带宽分析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49856" y="4745750"/>
                <a:ext cx="3273292" cy="12003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为避免材料在谐振区的高损耗，天线工作频段应选择在损耗角正切较低的区域。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洛伦兹模型应用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adbb64-7fb5-4561-9db0-3ace0fbbee4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236322"/>
            <a:ext cx="10858500" cy="4882158"/>
            <a:chOff x="660400" y="1236322"/>
            <a:chExt cx="10858500" cy="4882158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236322"/>
              <a:ext cx="10858500" cy="53965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结合洛伦兹模型分析贴片天线的可行性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9827" y="2063057"/>
              <a:ext cx="5207000" cy="1893540"/>
              <a:chOff x="669827" y="2063057"/>
              <a:chExt cx="5207000" cy="189354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9827" y="2063057"/>
                <a:ext cx="5207000" cy="189354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0444" y="2440218"/>
                <a:ext cx="4281092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贴片天线模式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10443" y="2868498"/>
                <a:ext cx="4281093" cy="7844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矩形贴片天线通常以TM10模式为主要工作模式，其尺寸与波长相关。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216924" y="2172475"/>
                <a:ext cx="650476" cy="5232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1090669" y="3652934"/>
                <a:ext cx="4340646" cy="0"/>
              </a:xfrm>
              <a:prstGeom prst="line">
                <a:avLst/>
              </a:prstGeom>
              <a:ln w="6350">
                <a:solidFill>
                  <a:srgbClr val="4A8800">
                    <a:alpha val="100000"/>
                  </a:srgbClr>
                </a:solidFill>
                <a:prstDash val="dash"/>
                <a:headEnd type="none"/>
                <a:tailEnd type="none"/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6305746" y="2063057"/>
              <a:ext cx="5207000" cy="1893540"/>
              <a:chOff x="6305746" y="2063057"/>
              <a:chExt cx="5207000" cy="1893540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6305746" y="2063057"/>
                <a:ext cx="5203727" cy="189354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620932" y="2440218"/>
                <a:ext cx="4281092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谐振长度计算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620931" y="2868498"/>
                <a:ext cx="4281093" cy="7844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根据洛伦兹模型，通过调整材料参数，可使天线在f₁和f₂两个频率下均谐振于TM10模式。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883170" y="2172475"/>
                <a:ext cx="629576" cy="5232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6676016" y="3652934"/>
                <a:ext cx="4340646" cy="0"/>
              </a:xfrm>
              <a:prstGeom prst="line">
                <a:avLst/>
              </a:prstGeom>
              <a:ln w="6350">
                <a:solidFill>
                  <a:srgbClr val="4A8800">
                    <a:alpha val="100000"/>
                  </a:srgbClr>
                </a:solidFill>
                <a:prstDash val="dash"/>
                <a:headEnd type="none"/>
                <a:tailEnd type="none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660400" y="4224940"/>
              <a:ext cx="10852346" cy="1893540"/>
              <a:chOff x="660400" y="4224940"/>
              <a:chExt cx="10852346" cy="1893540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660400" y="4224940"/>
                <a:ext cx="10849073" cy="1893540"/>
              </a:xfrm>
              <a:prstGeom prst="rect">
                <a:avLst/>
              </a:prstGeom>
              <a:solidFill>
                <a:srgbClr val="2F2F2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0444" y="4579621"/>
                <a:ext cx="9891580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CMA仿真验证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10443" y="5007901"/>
                <a:ext cx="9891581" cy="78443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仿真结果显示，加载洛伦兹材料的贴片天线，其TM10模式确实在两个频点出现，验证了理论分析。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883170" y="4339315"/>
                <a:ext cx="629576" cy="5232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800" b="1" i="0">
                    <a:ln/>
                    <a:solidFill>
                      <a:srgbClr val="E53238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1090669" y="5798688"/>
                <a:ext cx="9925993" cy="0"/>
              </a:xfrm>
              <a:prstGeom prst="line">
                <a:avLst/>
              </a:prstGeom>
              <a:ln w="6350">
                <a:solidFill>
                  <a:srgbClr val="4A8800">
                    <a:alpha val="100000"/>
                  </a:srgbClr>
                </a:solidFill>
                <a:prstDash val="dash"/>
                <a:headEnd type="none"/>
                <a:tailEnd type="none"/>
              </a:ln>
            </p:spPr>
          </p:sp>
        </p:grpSp>
      </p:grpSp>
      <p:sp>
        <p:nvSpPr>
          <p:cNvPr id="23" name="TextBox 23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天线理论分析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343" y="1683657"/>
            <a:ext cx="10733314" cy="21371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介质材料的实现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29344" y="4013141"/>
            <a:ext cx="10733313" cy="11286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阐述如何利用人工结构——超材料，来模拟洛伦兹模型的色散特性，并介绍其设计原理。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7d5c5d-d65e-4903-8697-b1e08f1b2fd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4770767"/>
            <a:chOff x="660400" y="1130300"/>
            <a:chExt cx="10858500" cy="4770767"/>
          </a:xfrm>
        </p:grpSpPr>
        <p:grpSp>
          <p:nvGrpSpPr>
            <p:cNvPr id="4" name="Group 4"/>
            <p:cNvGrpSpPr/>
            <p:nvPr/>
          </p:nvGrpSpPr>
          <p:grpSpPr>
            <a:xfrm>
              <a:off x="685283" y="2364917"/>
              <a:ext cx="3484159" cy="3536150"/>
              <a:chOff x="660401" y="2364920"/>
              <a:chExt cx="1878874" cy="353615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1" y="2364920"/>
                <a:ext cx="1878874" cy="3536150"/>
              </a:xfrm>
              <a:prstGeom prst="roundRect">
                <a:avLst>
                  <a:gd name="adj" fmla="val 5758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23447" y="2601738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23447" y="3258878"/>
                <a:ext cx="1752781" cy="7397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超材料定义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23448" y="3998593"/>
                <a:ext cx="1752781" cy="1729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超材料是一种人工设计的结构，其电磁特性可由单元结构控制，而非自然材料属性决定。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47570" y="2364917"/>
              <a:ext cx="3484159" cy="3536150"/>
              <a:chOff x="2908482" y="2364920"/>
              <a:chExt cx="1878874" cy="353615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908482" y="2364920"/>
                <a:ext cx="1878874" cy="3536150"/>
              </a:xfrm>
              <a:prstGeom prst="roundRect">
                <a:avLst>
                  <a:gd name="adj" fmla="val 5758"/>
                </a:avLst>
              </a:prstGeom>
              <a:solidFill>
                <a:srgbClr val="47588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945438" y="2601738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45437" y="3258878"/>
                <a:ext cx="1752781" cy="7397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模拟洛伦兹曲线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45438" y="3998593"/>
                <a:ext cx="1752781" cy="1729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通过设计特定的单元结构，超材料可以实现与洛伦兹模型相似的色散曲线。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009858" y="2364917"/>
              <a:ext cx="3484159" cy="3536150"/>
              <a:chOff x="5156563" y="2364920"/>
              <a:chExt cx="1878874" cy="353615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156563" y="2364920"/>
                <a:ext cx="1878874" cy="3536150"/>
              </a:xfrm>
              <a:prstGeom prst="roundRect">
                <a:avLst>
                  <a:gd name="adj" fmla="val 5758"/>
                </a:avLst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219609" y="2601738"/>
                <a:ext cx="1752781" cy="5847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219609" y="3258878"/>
                <a:ext cx="1752781" cy="73971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磁谐振结构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19610" y="3998593"/>
                <a:ext cx="1752781" cy="17291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与电谐振结构不同，磁谐振结构（如SRR）更易实现小型化和控制磁导率。</a:t>
                </a:r>
                <a:endParaRPr lang="en-US" sz="11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0400" y="1130300"/>
              <a:ext cx="10858500" cy="71047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说明超材料在实现洛伦兹色散中的关键作用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超材料简介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ecf981-a2f3-4864-871c-024729b1881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1"/>
            <a:ext cx="10858501" cy="5397499"/>
            <a:chOff x="660400" y="1130301"/>
            <a:chExt cx="10858501" cy="53974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1"/>
              <a:ext cx="10858500" cy="56629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详细解析SRR作为磁谐振单元的工作原理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069065"/>
              <a:ext cx="2554075" cy="4458735"/>
              <a:chOff x="660400" y="2069065"/>
              <a:chExt cx="2554075" cy="445873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2307159"/>
                <a:ext cx="255407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33640" y="3303146"/>
                <a:ext cx="2407592" cy="31230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SRR由两个开口的金属环组成，其互补电流在环中形成类似磁偶极子的效应。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33640" y="2566988"/>
                <a:ext cx="2407592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SRR结构组成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3140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E5323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28542" y="2069065"/>
              <a:ext cx="2554075" cy="4458735"/>
              <a:chOff x="3428542" y="2069065"/>
              <a:chExt cx="2554075" cy="445873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3428542" y="2307159"/>
                <a:ext cx="255407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501782" y="3303147"/>
                <a:ext cx="2407592" cy="31230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当磁场垂直于SRR环面时，会在环内激励出环流，模拟磁偶极子的响应。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01782" y="2566988"/>
                <a:ext cx="2407592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磁偶极子效应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0233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E5323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96683" y="2069065"/>
              <a:ext cx="2554075" cy="4458735"/>
              <a:chOff x="6196683" y="2069065"/>
              <a:chExt cx="2554075" cy="445873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196683" y="2307159"/>
                <a:ext cx="255407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269923" y="3303147"/>
                <a:ext cx="2407592" cy="31230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SRR的谐振行为导致其磁导率呈现洛伦兹色散特性，是设计的关键。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69923" y="2566988"/>
                <a:ext cx="2407592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洛伦兹色散特性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7326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E5323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964826" y="2069065"/>
              <a:ext cx="2554075" cy="4458735"/>
              <a:chOff x="8964826" y="2069065"/>
              <a:chExt cx="2554075" cy="4458735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8964826" y="2307159"/>
                <a:ext cx="255407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038066" y="3303147"/>
                <a:ext cx="2407592" cy="312305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SRR结构是各向异性的，仅当特定方向的磁场激励时，才能表现出色散特性。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38066" y="2566988"/>
                <a:ext cx="2407592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各向异性响应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144198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E5323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SRR结构原理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8759a7f-0abd-4e9d-8ac0-5bc5ea77bbd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研究SRR关键几何参数对其电磁特性的影响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203055" y="2164081"/>
              <a:ext cx="4225450" cy="1864359"/>
              <a:chOff x="673100" y="2164081"/>
              <a:chExt cx="3458593" cy="1864359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73100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803918" y="2331720"/>
                <a:ext cx="3327775" cy="1507501"/>
                <a:chOff x="803918" y="2331720"/>
                <a:chExt cx="3327775" cy="1507501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803918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谐振频率控制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03918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Medium"/>
                      <a:ea typeface="思源黑体 CN Medium"/>
                      <a:cs typeface="思源黑体 CN Medium"/>
                    </a:rPr>
                    <a:t>SRR环的周长是决定其谐振频率（f₀）的关键参数，周长越长，谐振频率越低。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28953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11" name="AutoShape 11"/>
              <p:cNvSpPr/>
              <p:nvPr/>
            </p:nvSpPr>
            <p:spPr>
              <a:xfrm>
                <a:off x="3328953" y="383922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6750796" y="2164081"/>
              <a:ext cx="4225450" cy="1864359"/>
              <a:chOff x="8060306" y="2164081"/>
              <a:chExt cx="3458593" cy="1864359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环间距的影响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Medium"/>
                      <a:ea typeface="思源黑体 CN Medium"/>
                      <a:cs typeface="思源黑体 CN Medium"/>
                    </a:rPr>
                    <a:t>两环之间的间距（I₂）也会影响谐振频率和耦合强度，需优化设计。</a:t>
                  </a:r>
                  <a:endParaRPr lang="en-US" sz="110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8" name="AutoShape 18"/>
              <p:cNvSpPr/>
              <p:nvPr/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203055" y="4269741"/>
              <a:ext cx="4225450" cy="1864359"/>
              <a:chOff x="673100" y="4269741"/>
              <a:chExt cx="3458593" cy="1864359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673100" y="426974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803918" y="4437380"/>
                <a:ext cx="3327775" cy="1507501"/>
                <a:chOff x="803918" y="4437380"/>
                <a:chExt cx="3327775" cy="1507501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803918" y="443738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单元周期作用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3918" y="485521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Medium"/>
                      <a:ea typeface="思源黑体 CN Medium"/>
                      <a:cs typeface="思源黑体 CN Medium"/>
                    </a:rPr>
                    <a:t>单元格的周期（p）影响材料整体的有效参数，对双频比有一定作用。</a:t>
                  </a:r>
                  <a:endParaRPr lang="en-US" sz="11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328953" y="539778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5" name="AutoShape 25"/>
              <p:cNvSpPr/>
              <p:nvPr/>
            </p:nvSpPr>
            <p:spPr>
              <a:xfrm>
                <a:off x="3328953" y="594488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750796" y="4269741"/>
              <a:ext cx="4225450" cy="1864359"/>
              <a:chOff x="8060306" y="4269741"/>
              <a:chExt cx="3458593" cy="1864359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8060306" y="426974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8191124" y="4437380"/>
                <a:ext cx="3327775" cy="1507501"/>
                <a:chOff x="8191124" y="4437380"/>
                <a:chExt cx="3327775" cy="1507501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8191124" y="443738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Heavy"/>
                      <a:ea typeface="思源黑体 CN Heavy"/>
                      <a:cs typeface="思源黑体 CN Heavy"/>
                    </a:rPr>
                    <a:t>参数综合优化</a:t>
                  </a:r>
                  <a:endParaRPr lang="en-US" sz="1100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8191124" y="485521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思源黑体 CN Medium"/>
                      <a:ea typeface="思源黑体 CN Medium"/>
                      <a:cs typeface="思源黑体 CN Medium"/>
                    </a:rPr>
                    <a:t>通过综合调整多个参数，可以得到满足特定频段要求的洛伦兹色散曲线。</a:t>
                  </a:r>
                  <a:endParaRPr lang="en-US" sz="1100"/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716159" y="539778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32" name="AutoShape 32"/>
              <p:cNvSpPr/>
              <p:nvPr/>
            </p:nvSpPr>
            <p:spPr>
              <a:xfrm>
                <a:off x="10716159" y="5944881"/>
                <a:ext cx="786865" cy="4571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3" name="TextBox 33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SRR参数分析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343" y="1683657"/>
            <a:ext cx="10733314" cy="21371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天线设计与验证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29344" y="4013141"/>
            <a:ext cx="10733313" cy="11286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详细介绍基于SRR超材料的单模双频贴片天线的设计过程、仿真与测试结果。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a55ab18-295e-4899-a8a2-74a40ca30d8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0" y="1200150"/>
            <a:ext cx="12192000" cy="4933950"/>
            <a:chOff x="0" y="1200150"/>
            <a:chExt cx="12192000" cy="4933950"/>
          </a:xfrm>
        </p:grpSpPr>
        <p:sp>
          <p:nvSpPr>
            <p:cNvPr id="4" name="AutoShape 4"/>
            <p:cNvSpPr/>
            <p:nvPr/>
          </p:nvSpPr>
          <p:spPr>
            <a:xfrm>
              <a:off x="0" y="1200150"/>
              <a:ext cx="12192000" cy="1333500"/>
            </a:xfrm>
            <a:prstGeom prst="rect">
              <a:avLst/>
            </a:prstGeom>
            <a:solidFill>
              <a:srgbClr val="E5323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342894"/>
              <a:ext cx="10858500" cy="103518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展示天线整体结构及其各组成部分的设计考量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889885" y="2711450"/>
              <a:ext cx="4617824" cy="1544638"/>
              <a:chOff x="4122035" y="1130300"/>
              <a:chExt cx="4617824" cy="154463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4611712" y="1130300"/>
                <a:ext cx="4128147" cy="48967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天线整体结构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611712" y="1619978"/>
                <a:ext cx="4128147" cy="1054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天线由贴片、馈电网络和加载SRR的超材料层构成，结构紧凑。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122035" y="1308100"/>
                <a:ext cx="489678" cy="489678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71591" y="2711450"/>
              <a:ext cx="4617824" cy="1544638"/>
              <a:chOff x="6252491" y="1130300"/>
              <a:chExt cx="4617824" cy="154463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742168" y="1130300"/>
                <a:ext cx="4128147" cy="48967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馈电网络设计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42168" y="1619978"/>
                <a:ext cx="4128147" cy="1054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采用微带线和缝隙耦合馈电，避免了额外馈电结构，简化了设计。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252491" y="1308100"/>
                <a:ext cx="489678" cy="489678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89885" y="4589462"/>
              <a:ext cx="4617824" cy="1544638"/>
              <a:chOff x="4122035" y="1130300"/>
              <a:chExt cx="4617824" cy="1544638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4611712" y="1130300"/>
                <a:ext cx="4128147" cy="48967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SRR布局方案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11712" y="1619978"/>
                <a:ext cx="4128147" cy="1054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SRR单元根据天线H场分布进行排列，确保在双频下均能有效激励。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122035" y="1308100"/>
                <a:ext cx="489678" cy="489678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671591" y="4589462"/>
              <a:ext cx="4617824" cy="1544638"/>
              <a:chOff x="6252491" y="1130300"/>
              <a:chExt cx="4617824" cy="1544638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742168" y="1130300"/>
                <a:ext cx="4128147" cy="48967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结构优化目标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42168" y="1619978"/>
                <a:ext cx="4128147" cy="10549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优化目标包括双频阻抗匹配、辐射效率以及保持稳定的辐射方向图。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52491" y="1308100"/>
                <a:ext cx="489678" cy="489678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天线结构设计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55749d-58bc-43fa-9c5e-7c2ac3c9bf1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494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对比仿真与实测数据，验证天线性能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H="1">
              <a:off x="660400" y="3478971"/>
              <a:ext cx="10858500" cy="0"/>
            </a:xfrm>
            <a:prstGeom prst="line">
              <a:avLst/>
            </a:prstGeom>
            <a:ln w="12700">
              <a:solidFill>
                <a:srgbClr val="3436A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660400" y="1959941"/>
              <a:ext cx="2056664" cy="4174159"/>
              <a:chOff x="724268" y="1959941"/>
              <a:chExt cx="2056664" cy="417415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24268" y="3551821"/>
                <a:ext cx="205666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反射系数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24268" y="4199821"/>
                <a:ext cx="2056664" cy="1934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仿真与测试表明，天线在低频段（2.6GHz）和高频段（4.1GHz）均实现了良好的阻抗匹配。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24268" y="1959941"/>
                <a:ext cx="2056664" cy="1311651"/>
              </a:xfrm>
              <a:prstGeom prst="round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38373" y="1959941"/>
              <a:ext cx="2066656" cy="4174159"/>
              <a:chOff x="2927724" y="1959941"/>
              <a:chExt cx="2066656" cy="417415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927724" y="3551821"/>
                <a:ext cx="205666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天线增益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27724" y="4199821"/>
                <a:ext cx="2056664" cy="1934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天线在两个频段的实测增益分别达到6.9 dBi和8.1 dBi，性能优异。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37716" y="1959941"/>
                <a:ext cx="2056664" cy="1311651"/>
              </a:xfrm>
              <a:prstGeom prst="round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026338" y="1959941"/>
              <a:ext cx="2076650" cy="4174159"/>
              <a:chOff x="5145802" y="1959941"/>
              <a:chExt cx="2076650" cy="417415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145802" y="3551821"/>
                <a:ext cx="205666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辐射效率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145802" y="4199821"/>
                <a:ext cx="2056664" cy="1934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在双频下，天线的仿真辐射效率分别高达98%和95%，损耗极低。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65788" y="1959941"/>
                <a:ext cx="2056664" cy="1311651"/>
              </a:xfrm>
              <a:prstGeom prst="round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224297" y="1959941"/>
              <a:ext cx="2086646" cy="4174159"/>
              <a:chOff x="7305621" y="1959941"/>
              <a:chExt cx="2086646" cy="417415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305621" y="3551821"/>
                <a:ext cx="205666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辐射方向图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305621" y="4199821"/>
                <a:ext cx="2056664" cy="1934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仿真和测试的辐射方向图显示，天线在两个频段均能实现稳定的 broadside 辐射。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335601" y="1959941"/>
                <a:ext cx="2056666" cy="1311651"/>
              </a:xfrm>
              <a:prstGeom prst="round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432254" y="1959941"/>
              <a:ext cx="2086646" cy="4174159"/>
              <a:chOff x="9462237" y="1959941"/>
              <a:chExt cx="2086646" cy="4174159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462237" y="3551821"/>
                <a:ext cx="2056664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误差分析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62237" y="4199821"/>
                <a:ext cx="2056664" cy="1934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实测频率略高于仿真，主要归因于PCB加工公差和层间空气隙的影响。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92217" y="1959941"/>
                <a:ext cx="2056666" cy="1311651"/>
              </a:xfrm>
              <a:prstGeom prst="round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仿真与测试结果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bcdd831-8e61-4422-ad07-8dc75703047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660400" y="1130300"/>
              <a:ext cx="10858500" cy="5003800"/>
            </a:xfrm>
            <a:prstGeom prst="rect">
              <a:avLst/>
            </a:prstGeom>
            <a:ln w="19050">
              <a:solidFill>
                <a:srgbClr val="E5323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616" y="1310955"/>
              <a:ext cx="10170068" cy="602119"/>
            </a:xfrm>
            <a:prstGeom prst="rect">
              <a:avLst/>
            </a:prstGeom>
            <a:solidFill>
              <a:srgbClr val="475885">
                <a:alpha val="10196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介绍基于该天线单元的一维阵列设计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17314" y="2140196"/>
              <a:ext cx="10157370" cy="828000"/>
              <a:chOff x="1693971" y="2053636"/>
              <a:chExt cx="10157370" cy="82800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693971" y="2179636"/>
                <a:ext cx="871941" cy="576000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610940" y="2053636"/>
                <a:ext cx="6240401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设计了1×4的贴片天线阵列，采用微带功分网络实现等幅同相馈电。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648426" y="2053636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阵列结构设计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17314" y="3180730"/>
              <a:ext cx="10157370" cy="828000"/>
              <a:chOff x="1693971" y="3057001"/>
              <a:chExt cx="10157370" cy="82800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693971" y="3183001"/>
                <a:ext cx="871941" cy="576000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10940" y="3057001"/>
                <a:ext cx="6240401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阵列在双频段的仿真增益分别达到11.6 dBi和14.0 dBi，实现了高增益。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48426" y="305700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阵列仿真结果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017314" y="4221264"/>
              <a:ext cx="10157370" cy="828000"/>
              <a:chOff x="1693971" y="4060366"/>
              <a:chExt cx="10157370" cy="82800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693971" y="4186366"/>
                <a:ext cx="871941" cy="576000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10940" y="4060366"/>
                <a:ext cx="6240401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实测阵列增益为10.9 dBi和14.1 dBi，与仿真结果吻合良好，验证了设计的可行性。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48426" y="4060366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阵列测试结果</a:t>
                </a:r>
                <a:endParaRPr lang="en-US" sz="1100"/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660400" y="2033929"/>
              <a:ext cx="10858500" cy="0"/>
            </a:xfrm>
            <a:prstGeom prst="line">
              <a:avLst/>
            </a:prstGeom>
            <a:ln w="19050">
              <a:solidFill>
                <a:srgbClr val="E5323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60400" y="3074463"/>
              <a:ext cx="10858500" cy="0"/>
            </a:xfrm>
            <a:prstGeom prst="line">
              <a:avLst/>
            </a:prstGeom>
            <a:ln w="19050">
              <a:solidFill>
                <a:srgbClr val="E5323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60400" y="4114997"/>
              <a:ext cx="10858500" cy="0"/>
            </a:xfrm>
            <a:prstGeom prst="line">
              <a:avLst/>
            </a:prstGeom>
            <a:ln w="19050">
              <a:solidFill>
                <a:srgbClr val="E5323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17314" y="5261800"/>
              <a:ext cx="10157370" cy="828000"/>
              <a:chOff x="1693971" y="4060366"/>
              <a:chExt cx="10157370" cy="82800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693971" y="4186366"/>
                <a:ext cx="871941" cy="576000"/>
              </a:xfrm>
              <a:prstGeom prst="rect">
                <a:avLst/>
              </a:prstGeom>
              <a:solidFill>
                <a:srgbClr val="E5323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10940" y="4060366"/>
                <a:ext cx="6240401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该阵列设计可应用于对增益和方向性有更高要求的5G通信等场景。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48426" y="4060366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阵列应用潜力</a:t>
                </a:r>
                <a:endParaRPr lang="en-US" sz="1100"/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660400" y="5155531"/>
              <a:ext cx="10858500" cy="0"/>
            </a:xfrm>
            <a:prstGeom prst="line">
              <a:avLst/>
            </a:prstGeom>
            <a:ln w="19050">
              <a:solidFill>
                <a:srgbClr val="E53238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阵列设计拓展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9343" y="1683657"/>
            <a:ext cx="10733314" cy="21371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6600" b="1" dirty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</a:rPr>
              <a:t>复现工作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729344" y="4013141"/>
            <a:ext cx="10733313" cy="11286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623d693-d822-460a-abee-fad51b57014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1" y="1130299"/>
            <a:ext cx="10858499" cy="5003801"/>
            <a:chOff x="660401" y="1130299"/>
            <a:chExt cx="10858499" cy="5003801"/>
          </a:xfrm>
        </p:grpSpPr>
        <p:sp>
          <p:nvSpPr>
            <p:cNvPr id="4" name="TextBox 4"/>
            <p:cNvSpPr txBox="1"/>
            <p:nvPr/>
          </p:nvSpPr>
          <p:spPr>
            <a:xfrm>
              <a:off x="660401" y="1130299"/>
              <a:ext cx="2520754" cy="500380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zh-CN" altLang="en-US" sz="4400" b="1" i="0" dirty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  <a:ea typeface="思源黑体 CN Heavy"/>
                  <a:cs typeface="思源黑体 CN Heavy"/>
                </a:rPr>
                <a:t>整体工作</a:t>
              </a:r>
              <a:endParaRPr lang="en-US" sz="44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3871377" y="1148581"/>
              <a:ext cx="3711658" cy="2320958"/>
              <a:chOff x="3464061" y="1148581"/>
              <a:chExt cx="2583497" cy="2320958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3464061" y="1148581"/>
                <a:ext cx="2583497" cy="2320958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FFFFFF">
                      <a:alpha val="10196"/>
                    </a:srgbClr>
                  </a:gs>
                  <a:gs pos="100000">
                    <a:srgbClr val="FFFFFF">
                      <a:alpha val="10196"/>
                    </a:srgbClr>
                  </a:gs>
                </a:gsLst>
                <a:lin ang="18900000"/>
              </a:gradFill>
              <a:ln w="12700"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3672429" y="1237279"/>
                <a:ext cx="2176556" cy="6778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b="1" i="0">
                    <a:ln/>
                    <a:gradFill>
                      <a:gsLst>
                        <a:gs pos="0">
                          <a:srgbClr val="475885">
                            <a:alpha val="100000"/>
                          </a:srgbClr>
                        </a:gs>
                        <a:gs pos="100000">
                          <a:srgbClr val="E53238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672432" y="2473019"/>
                <a:ext cx="2176554" cy="8822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洛伦兹色散</a:t>
                </a: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规律推导；目标频率确定；传输线理论计算</a:t>
                </a:r>
                <a:endParaRPr lang="en-US" sz="11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672428" y="1915166"/>
                <a:ext cx="2176558" cy="5578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理论建模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7807242" y="1148581"/>
              <a:ext cx="3711658" cy="2320958"/>
              <a:chOff x="6197282" y="1148581"/>
              <a:chExt cx="2583497" cy="2320958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197282" y="1148581"/>
                <a:ext cx="2583497" cy="2320958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FFFFFF">
                      <a:alpha val="10196"/>
                    </a:srgbClr>
                  </a:gs>
                  <a:gs pos="100000">
                    <a:srgbClr val="FFFFFF">
                      <a:alpha val="10196"/>
                    </a:srgbClr>
                  </a:gs>
                </a:gsLst>
                <a:lin ang="18900000"/>
              </a:gradFill>
              <a:ln w="12700"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405650" y="1237279"/>
                <a:ext cx="2176556" cy="6778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b="1" i="0">
                    <a:ln/>
                    <a:gradFill>
                      <a:gsLst>
                        <a:gs pos="0">
                          <a:srgbClr val="475885">
                            <a:alpha val="100000"/>
                          </a:srgbClr>
                        </a:gs>
                        <a:gs pos="100000">
                          <a:srgbClr val="E53238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405653" y="2473019"/>
                <a:ext cx="2176554" cy="8822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SRR</a:t>
                </a: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结构仿真</a:t>
                </a: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；</a:t>
                </a:r>
                <a:r>
                  <a:rPr lang="en-US" altLang="zh-CN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S</a:t>
                </a: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参数仿真与参数提取；参数敏感度分析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05650" y="1915166"/>
                <a:ext cx="2176556" cy="5578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altLang="zh-CN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SRR</a:t>
                </a: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计算与提取</a:t>
                </a:r>
                <a:endParaRPr lang="en-US" sz="11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871377" y="3813142"/>
              <a:ext cx="3711658" cy="2320958"/>
              <a:chOff x="8930504" y="1148581"/>
              <a:chExt cx="2583497" cy="2320958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930504" y="1148581"/>
                <a:ext cx="2583497" cy="2320958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FFFFFF">
                      <a:alpha val="10196"/>
                    </a:srgbClr>
                  </a:gs>
                  <a:gs pos="100000">
                    <a:srgbClr val="FFFFFF">
                      <a:alpha val="10196"/>
                    </a:srgbClr>
                  </a:gs>
                </a:gsLst>
                <a:lin ang="18900000"/>
              </a:gradFill>
              <a:ln w="12700"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138872" y="1237279"/>
                <a:ext cx="2176556" cy="6778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b="1" i="0">
                    <a:ln/>
                    <a:gradFill>
                      <a:gsLst>
                        <a:gs pos="0">
                          <a:srgbClr val="475885">
                            <a:alpha val="100000"/>
                          </a:srgbClr>
                        </a:gs>
                        <a:gs pos="100000">
                          <a:srgbClr val="E53238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138875" y="2473019"/>
                <a:ext cx="2176554" cy="8822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多层极板建模；模式确认；馈电与匹配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38872" y="1915166"/>
                <a:ext cx="2176556" cy="5578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单天线建模</a:t>
                </a:r>
                <a:endParaRPr lang="en-US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807242" y="3813142"/>
              <a:ext cx="3711658" cy="2320958"/>
              <a:chOff x="660400" y="3913086"/>
              <a:chExt cx="2583497" cy="2320958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60400" y="3913086"/>
                <a:ext cx="2583497" cy="2320958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FFFFFF">
                      <a:alpha val="10196"/>
                    </a:srgbClr>
                  </a:gs>
                  <a:gs pos="100000">
                    <a:srgbClr val="FFFFFF">
                      <a:alpha val="10196"/>
                    </a:srgbClr>
                  </a:gs>
                </a:gsLst>
                <a:lin ang="18900000"/>
              </a:gradFill>
              <a:ln w="12700"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68768" y="4001784"/>
                <a:ext cx="2176556" cy="6778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3200" b="1" i="0">
                    <a:ln/>
                    <a:gradFill>
                      <a:gsLst>
                        <a:gs pos="0">
                          <a:srgbClr val="475885">
                            <a:alpha val="100000"/>
                          </a:srgbClr>
                        </a:gs>
                        <a:gs pos="100000">
                          <a:srgbClr val="E53238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8771" y="5237524"/>
                <a:ext cx="2176554" cy="8822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馈电网络设计</a:t>
                </a: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；阵列排布；整体性能仿真</a:t>
                </a:r>
                <a:endParaRPr lang="en-US" sz="11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8768" y="4679671"/>
                <a:ext cx="2176556" cy="55785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阵列天线建模</a:t>
                </a:r>
                <a:endParaRPr lang="en-US" sz="1100" dirty="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本研究总结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ed8226e-3135-4912-9a45-0e2ad73cac0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ln/>
                <a:solidFill>
                  <a:srgbClr val="FFFFFF">
                    <a:alpha val="100000"/>
                    <a:tint val="75000"/>
                  </a:srgbClr>
                </a:solidFill>
                <a:latin typeface="思源黑体 CN Medium"/>
                <a:ea typeface="思源黑体 CN Medium"/>
                <a:cs typeface="思源黑体 CN Medium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9330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zh-CN" altLang="en-US" sz="2400" b="1" dirty="0">
                  <a:ln/>
                  <a:solidFill>
                    <a:srgbClr val="FFFFFF">
                      <a:alpha val="100000"/>
                    </a:srgbClr>
                  </a:solidFill>
                  <a:latin typeface="思源黑体 CN Heavy"/>
                </a:rPr>
                <a:t>复现进度规划</a:t>
              </a:r>
              <a:endParaRPr lang="en-US" sz="1100" b="1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894520"/>
              <a:ext cx="5301194" cy="2075500"/>
              <a:chOff x="886103" y="3551437"/>
              <a:chExt cx="3420000" cy="2148309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86103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66103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第一周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8804" y="4598142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理论学习与单元建模；推导公式 </a:t>
                </a:r>
                <a:r>
                  <a:rPr lang="en-US" altLang="zh-CN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1 - 9</a:t>
                </a:r>
                <a:endParaRPr lang="en-US" sz="11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586103" y="3551437"/>
                <a:ext cx="301924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217706" y="1894520"/>
              <a:ext cx="5301194" cy="2075500"/>
              <a:chOff x="4541650" y="3551437"/>
              <a:chExt cx="3420000" cy="2148309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541650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721650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zh-CN" alt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  <a:ea typeface="思源黑体 CN Heavy"/>
                    <a:cs typeface="思源黑体 CN Heavy"/>
                  </a:rPr>
                  <a:t>第二周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4351" y="4598143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理论计算</a:t>
                </a: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，拿到符合要求的超材料设计等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241650" y="3551437"/>
                <a:ext cx="301924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0400" y="4058600"/>
              <a:ext cx="5301194" cy="2075500"/>
              <a:chOff x="886103" y="3551437"/>
              <a:chExt cx="3420000" cy="2148309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86103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66103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第三周</a:t>
                </a:r>
                <a:endParaRPr lang="en-US" sz="1100"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78804" y="4598142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单体天线建模与</a:t>
                </a:r>
                <a:r>
                  <a:rPr lang="en-US" altLang="zh-CN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1x4</a:t>
                </a:r>
                <a:r>
                  <a:rPr lang="zh-CN" alt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  <a:ea typeface="思源黑体 CN Medium"/>
                    <a:cs typeface="思源黑体 CN Medium"/>
                  </a:rPr>
                  <a:t>天线阵列建模，并完成仿真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586103" y="3551437"/>
                <a:ext cx="301924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217706" y="4058600"/>
              <a:ext cx="5301194" cy="2075500"/>
              <a:chOff x="4541650" y="3551437"/>
              <a:chExt cx="3420000" cy="2148309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4541650" y="3793646"/>
                <a:ext cx="3420000" cy="1906100"/>
              </a:xfrm>
              <a:prstGeom prst="rect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21650" y="3927411"/>
                <a:ext cx="2483772" cy="6707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Heavy"/>
                  </a:rPr>
                  <a:t>第四周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34351" y="4598143"/>
                <a:ext cx="3060000" cy="9315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zh-CN" altLang="en-US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</a:rPr>
                  <a:t>准备</a:t>
                </a:r>
                <a:r>
                  <a:rPr lang="en-US" altLang="zh-CN" sz="120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</a:rPr>
                  <a:t>pre</a:t>
                </a:r>
                <a:r>
                  <a:rPr lang="zh-CN" altLang="en-US" sz="1200">
                    <a:ln/>
                    <a:solidFill>
                      <a:srgbClr val="FFFFFF">
                        <a:alpha val="100000"/>
                      </a:srgbClr>
                    </a:solidFill>
                    <a:latin typeface="思源黑体 CN Medium"/>
                  </a:rPr>
                  <a:t>，并完成报告撰写</a:t>
                </a:r>
                <a:endParaRPr lang="en-US" sz="11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41650" y="3551437"/>
                <a:ext cx="301924" cy="48441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 w="15875"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95534"/>
            <a:ext cx="10858500" cy="85696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未来工作展望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2007317"/>
            <a:ext cx="10858500" cy="226305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/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f804a93-34a7-40f7-adbe-3d0811033a2f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632</Words>
  <Application>Microsoft Office PowerPoint</Application>
  <PresentationFormat>宽屏</PresentationFormat>
  <Paragraphs>220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思源黑体 CN Heavy</vt:lpstr>
      <vt:lpstr>思源黑体 CN Medium</vt:lpstr>
      <vt:lpstr>Arial</vt:lpstr>
      <vt:lpstr>Calibri</vt:lpstr>
      <vt:lpstr>0f804a93-34a7-40f7-adbe-3d0811033a2f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 wang</cp:lastModifiedBy>
  <cp:revision>5</cp:revision>
  <dcterms:created xsi:type="dcterms:W3CDTF">2006-08-16T00:00:00Z</dcterms:created>
  <dcterms:modified xsi:type="dcterms:W3CDTF">2026-05-17T12:52:48Z</dcterms:modified>
</cp:coreProperties>
</file>